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Deployment Frequency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How to Write Effective KPIs and SMART 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A 2-Day Workshop for Technology Middle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Workshop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Day 1: Understanding SMART Objectives &amp; Goal Setting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are objectives and why they matter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Introduction to the SMART framework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Writing effective function/team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Practical exercises and examples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Day 2: KPIs &amp; Cascading to Your Team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Understanding KPIs and their importance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Creating meaningful KPIs from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Cascading objectives and KPIs to team members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Real-world technology sector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By the end of this workshop, you will be able to: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Understand the difference between objectives and KPIs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Write SMART objectives for your function/team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Create measurable KPIs that drive performance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Cascade organizational objectives to your team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Align individual KPIs with team and company goals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Monitor and track performance effectively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DAY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Understanding SMART Objectives &amp; Goal Setting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Are Objectives?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Definition: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Objectives are specific, measurable goals that define what you want to achieve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Why Objectives Matter: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Provide clear direction and focus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Align team efforts with organizational strategy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Enable performance measurement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Motivate and engage team members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Facilitate resource allocation and prioritization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Objectives vs KPIs: Understanding the Difference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Objectives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KPIs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Definition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What you want to achieve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How you measure achievement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Qualitative or 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Always Quantitative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Purpose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Set direction and goals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Track progress and performance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Improve customer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NPS score of 8.5 or higher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Time Frame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Medium to long-term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Measured regularly (daily/weekly/monthly)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Outcome-oriented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Metric-oriented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The SMART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A Proven Method for Effective Objectives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 - 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What does SPECIFIC mean?</a:t>
            </a:r>
          </a:p>
          <a:p>
            <a:pPr>
              <a:spcAft>
                <a:spcPts val="800"/>
              </a:spcAft>
              <a:defRPr sz="1800"/>
            </a:pPr>
            <a:r>
              <a:t>• Clearly defined and unambiguous</a:t>
            </a:r>
          </a:p>
          <a:p>
            <a:pPr>
              <a:spcAft>
                <a:spcPts val="800"/>
              </a:spcAft>
              <a:defRPr sz="1800"/>
            </a:pPr>
            <a:r>
              <a:t>• Answers: Who, What, Where, When, Why</a:t>
            </a:r>
          </a:p>
          <a:p>
            <a:pPr>
              <a:spcAft>
                <a:spcPts val="800"/>
              </a:spcAft>
              <a:defRPr sz="1800"/>
            </a:pPr>
            <a:r>
              <a:t>• Leaves no room for misinterpretation</a:t>
            </a:r>
          </a:p>
          <a:p>
            <a:pPr>
              <a:spcAft>
                <a:spcPts val="800"/>
              </a:spcAft>
              <a:defRPr sz="1800"/>
            </a:pPr>
            <a:r>
              <a:t>• Focuses on a single objective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 matters:</a:t>
            </a:r>
          </a:p>
          <a:p>
            <a:pPr>
              <a:spcAft>
                <a:spcPts val="800"/>
              </a:spcAft>
              <a:defRPr sz="1800"/>
            </a:pPr>
            <a:r>
              <a:t>• Provides clarity and direction</a:t>
            </a:r>
          </a:p>
          <a:p>
            <a:pPr>
              <a:spcAft>
                <a:spcPts val="800"/>
              </a:spcAft>
              <a:defRPr sz="1800"/>
            </a:pPr>
            <a:r>
              <a:t>• Reduces confusion</a:t>
            </a:r>
          </a:p>
          <a:p>
            <a:pPr>
              <a:spcAft>
                <a:spcPts val="800"/>
              </a:spcAft>
              <a:defRPr sz="1800"/>
            </a:pPr>
            <a:r>
              <a:t>• Easier to communicate to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❌ Poor Example:</a:t>
            </a:r>
          </a:p>
          <a:p>
            <a:pPr>
              <a:spcAft>
                <a:spcPts val="800"/>
              </a:spcAft>
              <a:defRPr sz="1800"/>
            </a:pPr>
            <a:r>
              <a:t>'Improve our software quality'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✅ SMART Example:</a:t>
            </a:r>
          </a:p>
          <a:p>
            <a:pPr>
              <a:spcAft>
                <a:spcPts val="800"/>
              </a:spcAft>
              <a:defRPr sz="1800"/>
            </a:pPr>
            <a:r>
              <a:t>'Reduce critical bugs in production by implementing automated testing for all new features in our mobile application'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Notice the difference:</a:t>
            </a:r>
          </a:p>
          <a:p>
            <a:pPr>
              <a:spcAft>
                <a:spcPts val="800"/>
              </a:spcAft>
              <a:defRPr sz="1800"/>
            </a:pPr>
            <a:r>
              <a:t>• What: Reduce critical bugs</a:t>
            </a:r>
          </a:p>
          <a:p>
            <a:pPr>
              <a:spcAft>
                <a:spcPts val="800"/>
              </a:spcAft>
              <a:defRPr sz="1800"/>
            </a:pPr>
            <a:r>
              <a:t>• How: Automated testing</a:t>
            </a:r>
          </a:p>
          <a:p>
            <a:pPr>
              <a:spcAft>
                <a:spcPts val="800"/>
              </a:spcAft>
              <a:defRPr sz="1800"/>
            </a:pPr>
            <a:r>
              <a:t>• Where: Mobile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 - Measurable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What does MEASURABLE mean?</a:t>
            </a:r>
          </a:p>
          <a:p>
            <a:pPr>
              <a:spcAft>
                <a:spcPts val="800"/>
              </a:spcAft>
              <a:defRPr sz="1800"/>
            </a:pPr>
            <a:r>
              <a:t>• Can be quantified or qualified</a:t>
            </a:r>
          </a:p>
          <a:p>
            <a:pPr>
              <a:spcAft>
                <a:spcPts val="800"/>
              </a:spcAft>
              <a:defRPr sz="1800"/>
            </a:pPr>
            <a:r>
              <a:t>• Has clear criteria for success</a:t>
            </a:r>
          </a:p>
          <a:p>
            <a:pPr>
              <a:spcAft>
                <a:spcPts val="800"/>
              </a:spcAft>
              <a:defRPr sz="1800"/>
            </a:pPr>
            <a:r>
              <a:t>• Progress can be tracked</a:t>
            </a:r>
          </a:p>
          <a:p>
            <a:pPr>
              <a:spcAft>
                <a:spcPts val="800"/>
              </a:spcAft>
              <a:defRPr sz="1800"/>
            </a:pPr>
            <a:r>
              <a:t>• Includes specific numbers/percentages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 matters:</a:t>
            </a:r>
          </a:p>
          <a:p>
            <a:pPr>
              <a:spcAft>
                <a:spcPts val="800"/>
              </a:spcAft>
              <a:defRPr sz="1800"/>
            </a:pPr>
            <a:r>
              <a:t>• Enables progress tracking</a:t>
            </a:r>
          </a:p>
          <a:p>
            <a:pPr>
              <a:spcAft>
                <a:spcPts val="800"/>
              </a:spcAft>
              <a:defRPr sz="1800"/>
            </a:pPr>
            <a:r>
              <a:t>• Provides objective evaluation</a:t>
            </a:r>
          </a:p>
          <a:p>
            <a:pPr>
              <a:spcAft>
                <a:spcPts val="800"/>
              </a:spcAft>
              <a:defRPr sz="1800"/>
            </a:pPr>
            <a:r>
              <a:t>• Motivates through visible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❌ Poor Example:</a:t>
            </a:r>
          </a:p>
          <a:p>
            <a:pPr>
              <a:spcAft>
                <a:spcPts val="800"/>
              </a:spcAft>
              <a:defRPr sz="1800"/>
            </a:pPr>
            <a:r>
              <a:t>'Make our development process faster'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✅ SMART Example:</a:t>
            </a:r>
          </a:p>
          <a:p>
            <a:pPr>
              <a:spcAft>
                <a:spcPts val="800"/>
              </a:spcAft>
              <a:defRPr sz="1800"/>
            </a:pPr>
            <a:r>
              <a:t>'Reduce average sprint cycle time from 3 weeks to 2 weeks by Q2 2024'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Measurement criteria:</a:t>
            </a:r>
          </a:p>
          <a:p>
            <a:pPr>
              <a:spcAft>
                <a:spcPts val="800"/>
              </a:spcAft>
              <a:defRPr sz="1800"/>
            </a:pPr>
            <a:r>
              <a:t>• Baseline: 3 weeks</a:t>
            </a:r>
          </a:p>
          <a:p>
            <a:pPr>
              <a:spcAft>
                <a:spcPts val="800"/>
              </a:spcAft>
              <a:defRPr sz="1800"/>
            </a:pPr>
            <a:r>
              <a:t>• Target: 2 weeks</a:t>
            </a:r>
          </a:p>
          <a:p>
            <a:pPr>
              <a:spcAft>
                <a:spcPts val="800"/>
              </a:spcAft>
              <a:defRPr sz="1800"/>
            </a:pPr>
            <a:r>
              <a:t>• Metric: Sprint cycle time</a:t>
            </a:r>
          </a:p>
          <a:p>
            <a:pPr>
              <a:spcAft>
                <a:spcPts val="800"/>
              </a:spcAft>
              <a:defRPr sz="1800"/>
            </a:pPr>
            <a:r>
              <a:t>• Improvement: 33%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 - Achievable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What does ACHIEVABLE mean?</a:t>
            </a:r>
          </a:p>
          <a:p>
            <a:pPr>
              <a:spcAft>
                <a:spcPts val="800"/>
              </a:spcAft>
              <a:defRPr sz="1800"/>
            </a:pPr>
            <a:r>
              <a:t>• Realistic given resources</a:t>
            </a:r>
          </a:p>
          <a:p>
            <a:pPr>
              <a:spcAft>
                <a:spcPts val="800"/>
              </a:spcAft>
              <a:defRPr sz="1800"/>
            </a:pPr>
            <a:r>
              <a:t>• Challenging but attainable</a:t>
            </a:r>
          </a:p>
          <a:p>
            <a:pPr>
              <a:spcAft>
                <a:spcPts val="800"/>
              </a:spcAft>
              <a:defRPr sz="1800"/>
            </a:pPr>
            <a:r>
              <a:t>• Within your control/influence</a:t>
            </a:r>
          </a:p>
          <a:p>
            <a:pPr>
              <a:spcAft>
                <a:spcPts val="800"/>
              </a:spcAft>
              <a:defRPr sz="1800"/>
            </a:pPr>
            <a:r>
              <a:t>• Considers constraints and risks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 matters:</a:t>
            </a:r>
          </a:p>
          <a:p>
            <a:pPr>
              <a:spcAft>
                <a:spcPts val="800"/>
              </a:spcAft>
              <a:defRPr sz="1800"/>
            </a:pPr>
            <a:r>
              <a:t>• Maintains team motivation</a:t>
            </a:r>
          </a:p>
          <a:p>
            <a:pPr>
              <a:spcAft>
                <a:spcPts val="800"/>
              </a:spcAft>
              <a:defRPr sz="1800"/>
            </a:pPr>
            <a:r>
              <a:t>• Prevents burnout</a:t>
            </a:r>
          </a:p>
          <a:p>
            <a:pPr>
              <a:spcAft>
                <a:spcPts val="800"/>
              </a:spcAft>
              <a:defRPr sz="1800"/>
            </a:pPr>
            <a:r>
              <a:t>• Builds credibility</a:t>
            </a:r>
          </a:p>
          <a:p>
            <a:pPr>
              <a:spcAft>
                <a:spcPts val="800"/>
              </a:spcAft>
              <a:defRPr sz="1800"/>
            </a:pPr>
            <a:r>
              <a:t>• Ensures sustainable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❌ Poor Example:</a:t>
            </a:r>
          </a:p>
          <a:p>
            <a:pPr>
              <a:spcAft>
                <a:spcPts val="800"/>
              </a:spcAft>
              <a:defRPr sz="1800"/>
            </a:pPr>
            <a:r>
              <a:t>'Achieve 100% code coverage across all 50 legacy applications in 1 month'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✅ SMART Example:</a:t>
            </a:r>
          </a:p>
          <a:p>
            <a:pPr>
              <a:spcAft>
                <a:spcPts val="800"/>
              </a:spcAft>
              <a:defRPr sz="1800"/>
            </a:pPr>
            <a:r>
              <a:t>'Achieve 80% code coverage on 5 priority applications within 6 months by allocating 20% of sprint capacity'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it's achievable:</a:t>
            </a:r>
          </a:p>
          <a:p>
            <a:pPr>
              <a:spcAft>
                <a:spcPts val="800"/>
              </a:spcAft>
              <a:defRPr sz="1800"/>
            </a:pPr>
            <a:r>
              <a:t>• Realistic scope (5 apps, not 50)</a:t>
            </a:r>
          </a:p>
          <a:p>
            <a:pPr>
              <a:spcAft>
                <a:spcPts val="800"/>
              </a:spcAft>
              <a:defRPr sz="1800"/>
            </a:pPr>
            <a:r>
              <a:t>• Reasonable timeline (6 months)</a:t>
            </a:r>
          </a:p>
          <a:p>
            <a:pPr>
              <a:spcAft>
                <a:spcPts val="800"/>
              </a:spcAft>
              <a:defRPr sz="1800"/>
            </a:pPr>
            <a:r>
              <a:t>• Resource allocation defined (20%)</a:t>
            </a:r>
          </a:p>
          <a:p>
            <a:pPr>
              <a:spcAft>
                <a:spcPts val="800"/>
              </a:spcAft>
              <a:defRPr sz="1800"/>
            </a:pPr>
            <a:r>
              <a:t>• Practical target (80% vs 100%)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 - Relevant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What does RELEVANT mean?</a:t>
            </a:r>
          </a:p>
          <a:p>
            <a:pPr>
              <a:spcAft>
                <a:spcPts val="800"/>
              </a:spcAft>
              <a:defRPr sz="1800"/>
            </a:pPr>
            <a:r>
              <a:t>• Aligns with broader goals</a:t>
            </a:r>
          </a:p>
          <a:p>
            <a:pPr>
              <a:spcAft>
                <a:spcPts val="800"/>
              </a:spcAft>
              <a:defRPr sz="1800"/>
            </a:pPr>
            <a:r>
              <a:t>• Supports organizational strategy</a:t>
            </a:r>
          </a:p>
          <a:p>
            <a:pPr>
              <a:spcAft>
                <a:spcPts val="800"/>
              </a:spcAft>
              <a:defRPr sz="1800"/>
            </a:pPr>
            <a:r>
              <a:t>• Matters to stakeholders</a:t>
            </a:r>
          </a:p>
          <a:p>
            <a:pPr>
              <a:spcAft>
                <a:spcPts val="800"/>
              </a:spcAft>
              <a:defRPr sz="1800"/>
            </a:pPr>
            <a:r>
              <a:t>• Worth the time and effort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 matters:</a:t>
            </a:r>
          </a:p>
          <a:p>
            <a:pPr>
              <a:spcAft>
                <a:spcPts val="800"/>
              </a:spcAft>
              <a:defRPr sz="1800"/>
            </a:pPr>
            <a:r>
              <a:t>• Ensures strategic alignment</a:t>
            </a:r>
          </a:p>
          <a:p>
            <a:pPr>
              <a:spcAft>
                <a:spcPts val="800"/>
              </a:spcAft>
              <a:defRPr sz="1800"/>
            </a:pPr>
            <a:r>
              <a:t>• Maximizes impact</a:t>
            </a:r>
          </a:p>
          <a:p>
            <a:pPr>
              <a:spcAft>
                <a:spcPts val="800"/>
              </a:spcAft>
              <a:defRPr sz="1800"/>
            </a:pPr>
            <a:r>
              <a:t>• Justifies resource investment</a:t>
            </a:r>
          </a:p>
          <a:p>
            <a:pPr>
              <a:spcAft>
                <a:spcPts val="800"/>
              </a:spcAft>
              <a:defRPr sz="1800"/>
            </a:pPr>
            <a:r>
              <a:t>• Maintains focus on priorities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Context: Company goal is to improve customer retention by 25%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❌ Poor Example (Not Relevant):</a:t>
            </a:r>
          </a:p>
          <a:p>
            <a:pPr>
              <a:spcAft>
                <a:spcPts val="800"/>
              </a:spcAft>
              <a:defRPr sz="1800"/>
            </a:pPr>
            <a:r>
              <a:t>'Migrate all internal tools to newest framework version'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✅ SMART Example (Relevant):</a:t>
            </a:r>
          </a:p>
          <a:p>
            <a:pPr>
              <a:spcAft>
                <a:spcPts val="800"/>
              </a:spcAft>
              <a:defRPr sz="1800"/>
            </a:pPr>
            <a:r>
              <a:t>'Reduce customer-reported app crashes by 60% to improve retention and user satisfaction'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it's relevant:</a:t>
            </a:r>
          </a:p>
          <a:p>
            <a:pPr>
              <a:spcAft>
                <a:spcPts val="800"/>
              </a:spcAft>
              <a:defRPr sz="1800"/>
            </a:pPr>
            <a:r>
              <a:t>• Directly impacts customer experience</a:t>
            </a:r>
          </a:p>
          <a:p>
            <a:pPr>
              <a:spcAft>
                <a:spcPts val="800"/>
              </a:spcAft>
              <a:defRPr sz="1800"/>
            </a:pPr>
            <a:r>
              <a:t>• Supports retention goal</a:t>
            </a:r>
          </a:p>
          <a:p>
            <a:pPr>
              <a:spcAft>
                <a:spcPts val="800"/>
              </a:spcAft>
              <a:defRPr sz="1800"/>
            </a:pPr>
            <a:r>
              <a:t>• Addresses customer pain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 - Time-Bound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What does TIME-BOUND mean?</a:t>
            </a:r>
          </a:p>
          <a:p>
            <a:pPr>
              <a:spcAft>
                <a:spcPts val="800"/>
              </a:spcAft>
              <a:defRPr sz="1800"/>
            </a:pPr>
            <a:r>
              <a:t>• Has a clear deadline</a:t>
            </a:r>
          </a:p>
          <a:p>
            <a:pPr>
              <a:spcAft>
                <a:spcPts val="800"/>
              </a:spcAft>
              <a:defRPr sz="1800"/>
            </a:pPr>
            <a:r>
              <a:t>• Includes milestones</a:t>
            </a:r>
          </a:p>
          <a:p>
            <a:pPr>
              <a:spcAft>
                <a:spcPts val="800"/>
              </a:spcAft>
              <a:defRPr sz="1800"/>
            </a:pPr>
            <a:r>
              <a:t>• Creates urgency</a:t>
            </a:r>
          </a:p>
          <a:p>
            <a:pPr>
              <a:spcAft>
                <a:spcPts val="800"/>
              </a:spcAft>
              <a:defRPr sz="1800"/>
            </a:pPr>
            <a:r>
              <a:t>• Enables progress tracking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Why it matters:</a:t>
            </a:r>
          </a:p>
          <a:p>
            <a:pPr>
              <a:spcAft>
                <a:spcPts val="800"/>
              </a:spcAft>
              <a:defRPr sz="1800"/>
            </a:pPr>
            <a:r>
              <a:t>• Prevents procrastination</a:t>
            </a:r>
          </a:p>
          <a:p>
            <a:pPr>
              <a:spcAft>
                <a:spcPts val="800"/>
              </a:spcAft>
              <a:defRPr sz="1800"/>
            </a:pPr>
            <a:r>
              <a:t>• Enables planning and scheduling</a:t>
            </a:r>
          </a:p>
          <a:p>
            <a:pPr>
              <a:spcAft>
                <a:spcPts val="800"/>
              </a:spcAft>
              <a:defRPr sz="1800"/>
            </a:pPr>
            <a:r>
              <a:t>• Creates accountability</a:t>
            </a:r>
          </a:p>
          <a:p>
            <a:pPr>
              <a:spcAft>
                <a:spcPts val="800"/>
              </a:spcAft>
              <a:defRPr sz="1800"/>
            </a:pPr>
            <a:r>
              <a:t>• Allows for course 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❌ Poor Example:</a:t>
            </a:r>
          </a:p>
          <a:p>
            <a:pPr>
              <a:spcAft>
                <a:spcPts val="800"/>
              </a:spcAft>
              <a:defRPr sz="1800"/>
            </a:pPr>
            <a:r>
              <a:t>'Implement new CI/CD pipeline eventually'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✅ SMART Example:</a:t>
            </a:r>
          </a:p>
          <a:p>
            <a:pPr>
              <a:spcAft>
                <a:spcPts val="800"/>
              </a:spcAft>
              <a:defRPr sz="1800"/>
            </a:pPr>
            <a:r>
              <a:t>'Implement CI/CD pipeline for 3 core services by end of Q3 2024, with Phase 1 (design) by July 15 and Phase 2 (implementation) by Sept 15'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Timeline breakdown:</a:t>
            </a:r>
          </a:p>
          <a:p>
            <a:pPr>
              <a:spcAft>
                <a:spcPts val="800"/>
              </a:spcAft>
              <a:defRPr sz="1800"/>
            </a:pPr>
            <a:r>
              <a:t>• Phase 1 deadline: July 15, 2024</a:t>
            </a:r>
          </a:p>
          <a:p>
            <a:pPr>
              <a:spcAft>
                <a:spcPts val="800"/>
              </a:spcAft>
              <a:defRPr sz="1800"/>
            </a:pPr>
            <a:r>
              <a:t>• Phase 2 deadline: Sept 15, 2024</a:t>
            </a:r>
          </a:p>
          <a:p>
            <a:pPr>
              <a:spcAft>
                <a:spcPts val="800"/>
              </a:spcAft>
              <a:defRPr sz="1800"/>
            </a:pPr>
            <a:r>
              <a:t>• Final completion: Q3 2024</a:t>
            </a:r>
          </a:p>
          <a:p>
            <a:pPr>
              <a:spcAft>
                <a:spcPts val="800"/>
              </a:spcAft>
              <a:defRPr sz="1800"/>
            </a:pPr>
            <a:r>
              <a:t>• Scope: 3 core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Before &amp; After: SMART Transformation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Before (Weak)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After (SMART)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What Changed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Improve team skills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Complete cloud certification for 8 team members by Q4 2024 with 90% pass rate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Added specific number, metric, and deadline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Better customer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Reduce average ticket resolution time from 48h to 24h by implementing new ticketing system by July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Quantified improvement, added method and timeline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Modernize infrastructure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Migrate 75% of on-premise workloads to cloud by Dec 2024, starting with 3 pilot applications in Q2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Specified percentage, deadline, and phased approach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Increase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Reduce manual deployment time by 70% (from 4h to 1.2h) by automating release process by 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Quantified baseline, target, and method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Writing Your Function/Team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1: Understand organizational strategy and goals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Review company OKRs, strategic plans, and priorities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Identify how your function contributes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2: Identify your function's key responsibilities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are you accountable for?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value does your team provide?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3: Define 3-5 key objectives (don't overcommit!)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Focus on high-impact areas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Apply SMART criteria to each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4: Validate with stakeholders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Get buy-in from leadership and peers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Sample Objectives by Technology Function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Sample SMART Objective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Software Development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Increase deployment frequency from monthly to weekly by implementing automated CI/CD pipeline by Q3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Infrastructure &amp; 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Achieve 99.9% system uptime by implementing redundancy and automated failover for all critical services by Q4 2024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Quality Assurance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Reduce production defects by 50% (from 20 to 10 per release) by implementing shift-left testing by Q2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IT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Complete security compliance audit with zero critical findings by implementing automated vulnerability scanning by Dec 2024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Product Management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Increase feature adoption rate from 35% to 60% by implementing user feedback loop and A/B testing by Q3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Data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Reduce data processing latency from 24h to 2h by optimizing ETL pipelines for 5 core data sources by Q4 2024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Pitfalls to Avoid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Pitfall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Why It's a Problem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How to Fix 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Too many objectives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Dilutes focus and resources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Limit to 3-5 key objectives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Vague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Open to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Use specific, measurable terms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No baseline data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Can't measure improvement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Establish current state first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Unrealistic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Demotivates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Set challenging but achievable goals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Activity-focused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Measures effort, not outcome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Focus on results and impact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Missing stakeholder buy-in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Misalignment and conflicts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Validate with leadership early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🎯 Day 1 Exercise: Write Your Own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Activity (45 minutes):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1. Review your function's current responsibilities (10 min)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List your team's key accountabilities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2. Draft 3-5 SMART objectives for your function (25 min)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Use the SMART framework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Consider organizational alignment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3. Peer review in pairs (10 min)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Exchange with a colleague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Check each criterion: S-M-A-R-T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Provide constructive feedback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We'll share examples after the break!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Day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Takeaways: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Objectives define WHAT you want to achieve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SMART framework ensures objectives are effective: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Specific, Measurable, Achievable, Relevant, Time-bound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Good objectives provide clarity and direction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Function objectives must align with organizational strategy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Quality over quantity - focus on 3-5 key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Tomorrow: We'll learn how to create KPIs and cascade them to your team members!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DAY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KPIs &amp; Cascading to Your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Are Key Performance Indicators (KPIs)?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Definition: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KPIs are quantifiable metrics that measure progress toward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Characteristics of Good KPIs: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Quantifiable - expressed in numbers or percentages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Actionable - can influence through your actions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Relevant - directly related to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Timely - measured at appropriate intervals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Accurate - based on reliable data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Remember: KPIs measure HOW you track achievement of objectives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Types of KPIs in Technology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KPI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Input KPIs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Resources consumed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Hours spent on development, Budget allocated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Process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Efficiency of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Code review turnaround time, Sprint velocity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Output KPIs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Deliverables produced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Features deployed, Stories completed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Outcome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Results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System uptime %, Customer satisfaction score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Leading KPIs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Predict future performance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Test coverage %, Number of code commits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Lagging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Past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Production incidents, Customer churn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to Create KPIs from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1: Start with your SMART objective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The objective already contains measurable elements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2: Identify what needs to be measured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indicates progress?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shows success?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3: Define the metric formula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How will you calculate it?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data sources will you use?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4: Set target values and thresholds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What's the goal? (Target)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What's acceptable? (Threshold)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What's excellent? (Stretch goal)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From Objectives to KPIs: Examples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SMART Objective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Related KPIs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Reduce production bugs by 50% by Q4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# of critical bugs per release</a:t>
                      </a:r>
                    </a:p>
                    <a:p>
                      <a:r>
                        <a:rPr sz="1400"/>
                        <a:t>• Bug resolution time (hours)</a:t>
                      </a:r>
                    </a:p>
                    <a:p>
                      <a:r>
                        <a:rPr sz="1400"/>
                        <a:t>• Bug escape rate (%)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≤ 5 critical bugs</a:t>
                      </a:r>
                    </a:p>
                    <a:p>
                      <a:r>
                        <a:rPr sz="1400"/>
                        <a:t>• &lt; 24 hours</a:t>
                      </a:r>
                    </a:p>
                    <a:p>
                      <a:r>
                        <a:rPr sz="1400"/>
                        <a:t>• &lt; 5%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Increase deployment frequency from monthly to weekly by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Deployments per week</a:t>
                      </a:r>
                    </a:p>
                    <a:p>
                      <a:r>
                        <a:rPr sz="1400"/>
                        <a:t>• Deployment success rate (%)</a:t>
                      </a:r>
                    </a:p>
                    <a:p>
                      <a:r>
                        <a:rPr sz="1400"/>
                        <a:t>• Mean time to deploy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4 per week</a:t>
                      </a:r>
                    </a:p>
                    <a:p>
                      <a:r>
                        <a:rPr sz="1400"/>
                        <a:t>• ≥ 95%</a:t>
                      </a:r>
                    </a:p>
                    <a:p>
                      <a:r>
                        <a:rPr sz="1400"/>
                        <a:t>• &lt; 30 min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Improve system uptime to 99.9% by implementing redundancy by Q4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System uptime (%)</a:t>
                      </a:r>
                    </a:p>
                    <a:p>
                      <a:r>
                        <a:rPr sz="1400"/>
                        <a:t>• Mean time between failures (hours)</a:t>
                      </a:r>
                    </a:p>
                    <a:p>
                      <a:r>
                        <a:rPr sz="1400"/>
                        <a:t>• Mean time to recovery (min)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≥ 99.9%</a:t>
                      </a:r>
                    </a:p>
                    <a:p>
                      <a:r>
                        <a:rPr sz="1400"/>
                        <a:t>• &gt; 720 hours</a:t>
                      </a:r>
                    </a:p>
                    <a:p>
                      <a:r>
                        <a:rPr sz="1400"/>
                        <a:t>• &lt; 15 min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Achieve 80% test automation coverage for critical features by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Test automation coverage (%)</a:t>
                      </a:r>
                    </a:p>
                    <a:p>
                      <a:r>
                        <a:rPr sz="1400"/>
                        <a:t>• Test execution time (min)</a:t>
                      </a:r>
                    </a:p>
                    <a:p>
                      <a:r>
                        <a:rPr sz="1400"/>
                        <a:t>• Tests passing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≥ 80%</a:t>
                      </a:r>
                    </a:p>
                    <a:p>
                      <a:r>
                        <a:rPr sz="1400"/>
                        <a:t>• &lt; 20 min</a:t>
                      </a:r>
                    </a:p>
                    <a:p>
                      <a:r>
                        <a:rPr sz="1400"/>
                        <a:t>• ≥ 98%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Characteristics of Effective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Good KPIs Are: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Clearly Defined</a:t>
            </a:r>
          </a:p>
          <a:p>
            <a:pPr>
              <a:spcAft>
                <a:spcPts val="800"/>
              </a:spcAft>
              <a:defRPr sz="1800"/>
            </a:pPr>
            <a:r>
              <a:t>• No ambiguity in calculation</a:t>
            </a:r>
          </a:p>
          <a:p>
            <a:pPr>
              <a:spcAft>
                <a:spcPts val="800"/>
              </a:spcAft>
              <a:defRPr sz="1800"/>
            </a:pPr>
            <a:r>
              <a:t>• Everyone understands the metric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Easy to Measure</a:t>
            </a:r>
          </a:p>
          <a:p>
            <a:pPr>
              <a:spcAft>
                <a:spcPts val="800"/>
              </a:spcAft>
              <a:defRPr sz="1800"/>
            </a:pPr>
            <a:r>
              <a:t>• Data is readily available</a:t>
            </a:r>
          </a:p>
          <a:p>
            <a:pPr>
              <a:spcAft>
                <a:spcPts val="800"/>
              </a:spcAft>
              <a:defRPr sz="1800"/>
            </a:pPr>
            <a:r>
              <a:t>• Can be tracked regularly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Actionable</a:t>
            </a:r>
          </a:p>
          <a:p>
            <a:pPr>
              <a:spcAft>
                <a:spcPts val="800"/>
              </a:spcAft>
              <a:defRPr sz="1800"/>
            </a:pPr>
            <a:r>
              <a:t>• Team can influence the outcome</a:t>
            </a:r>
          </a:p>
          <a:p>
            <a:pPr>
              <a:spcAft>
                <a:spcPts val="800"/>
              </a:spcAft>
              <a:defRPr sz="1800"/>
            </a:pPr>
            <a:r>
              <a:t>• Clear actions drive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✓ Relevant</a:t>
            </a:r>
          </a:p>
          <a:p>
            <a:pPr>
              <a:spcAft>
                <a:spcPts val="800"/>
              </a:spcAft>
              <a:defRPr sz="1800"/>
            </a:pPr>
            <a:r>
              <a:t>• Directly tied to objectives</a:t>
            </a:r>
          </a:p>
          <a:p>
            <a:pPr>
              <a:spcAft>
                <a:spcPts val="800"/>
              </a:spcAft>
              <a:defRPr sz="1800"/>
            </a:pPr>
            <a:r>
              <a:t>• Matters to stakeholders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Balanced</a:t>
            </a:r>
          </a:p>
          <a:p>
            <a:pPr>
              <a:spcAft>
                <a:spcPts val="800"/>
              </a:spcAft>
              <a:defRPr sz="1800"/>
            </a:pPr>
            <a:r>
              <a:t>• Mix of leading &amp; lagging indicators</a:t>
            </a:r>
          </a:p>
          <a:p>
            <a:pPr>
              <a:spcAft>
                <a:spcPts val="800"/>
              </a:spcAft>
              <a:defRPr sz="1800"/>
            </a:pPr>
            <a:r>
              <a:t>• Covers quality, speed, and efficiency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Limited in Number</a:t>
            </a:r>
          </a:p>
          <a:p>
            <a:pPr>
              <a:spcAft>
                <a:spcPts val="800"/>
              </a:spcAft>
              <a:defRPr sz="1800"/>
            </a:pPr>
            <a:r>
              <a:t>• 3-5 KPIs per objective</a:t>
            </a:r>
          </a:p>
          <a:p>
            <a:pPr>
              <a:spcAft>
                <a:spcPts val="800"/>
              </a:spcAft>
              <a:defRPr sz="1800"/>
            </a:pPr>
            <a:r>
              <a:t>• Focus on what matters most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Regularly Reviewed</a:t>
            </a:r>
          </a:p>
          <a:p>
            <a:pPr>
              <a:spcAft>
                <a:spcPts val="800"/>
              </a:spcAft>
              <a:defRPr sz="1800"/>
            </a:pPr>
            <a:r>
              <a:t>• Tracked at appropriate frequency</a:t>
            </a:r>
          </a:p>
          <a:p>
            <a:pPr>
              <a:spcAft>
                <a:spcPts val="800"/>
              </a:spcAft>
              <a:defRPr sz="1800"/>
            </a:pPr>
            <a:r>
              <a:t>• Used for decision-making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KPI Tracking Example: Deployment Frequency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Cascading Objectives &amp; KPIs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From Organization to Individual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Cascade Objectives and KPIs?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Benefits of Cascading: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Alignment - Everyone works toward common goals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Clarity - Each person understands their contribution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Accountability - Clear ownership at every level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Motivation - People see how their work matters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Transparency - Visible connection from top to bottom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Efficiency - Eliminates conflicting priorities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The Goal: Create a 'line of sight' from company strategy to daily tasks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Cascading Framework: Levels of Objectives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Organizational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Company-wide strategic goals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Become market leader in cloud solutions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CEO / Executive Team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Departmental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Division or department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Achieve 99.9% platform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CTO / VP Engineering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Function/Team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Team or function-specific goals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Reduce infrastructure incidents by 60%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Engineering Manager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Personal performance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Implement monitoring for 10 critical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DevOps Engineer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5-Step Cascading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1: Understand Upper-Level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Review organizational and departmental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Identify how your function contributes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2: Define Your Function/Team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must your team achieve to support upper objectives?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Apply SMART framework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3: Break Down into Individual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What should each team member accomplish?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Ensure fair distribution and capabilities match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4: Create Corresponding KPIs at Each Level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Team KPIs roll up to function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Individual KPIs roll up to team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Step 5: Review and Align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Validate with team members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Ensure understanding and buy-in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Cascading Example: From Company to Individual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Company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Increase customer retention by 25% by end of year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Customer retention rate ≥ 85%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Department (Engineering)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Improve platform stability and performance by 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System uptime ≥ 99.9%</a:t>
                      </a:r>
                    </a:p>
                    <a:p>
                      <a:r>
                        <a:rPr sz="1400"/>
                        <a:t>P95 response time &lt; 200ms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Team (DevOps)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Reduce production incidents by 60% by Q3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Incidents per month ≤ 4</a:t>
                      </a:r>
                    </a:p>
                    <a:p>
                      <a:r>
                        <a:rPr sz="1400"/>
                        <a:t>MTTR &lt; 30 minutes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Individual (DevOps Engineer)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Implement monitoring and alerting for 10 critical services by July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Services monitored: 10/10</a:t>
                      </a:r>
                    </a:p>
                    <a:p>
                      <a:r>
                        <a:rPr sz="1400"/>
                        <a:t>Alert response time &lt; 5 min</a:t>
                      </a:r>
                    </a:p>
                    <a:p>
                      <a:r>
                        <a:rPr sz="1400"/>
                        <a:t>False positive rate &lt; 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Creating Individual Team Member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Principles for Individual KPIs: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Based on role and responsibilities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Software Engineer: Code quality, delivery, collaboration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QA Engineer: Test coverage, defect detection, automation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Aligned with team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Individual KPIs contribute to team KPIs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Within individual's control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Can be influenced by their actions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Balanced scorecard approach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Mix of quantitative and qualitative metrics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Include both results and behaviors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Developed collaboratively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Discuss with team member, don't impose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Individual KPI Examples by Role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Sample KPIs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/>
                        <a:t>Software Engineer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Story points delivered per sprint</a:t>
                      </a:r>
                    </a:p>
                    <a:p>
                      <a:r>
                        <a:rPr sz="1400"/>
                        <a:t>• Code review turnaround time</a:t>
                      </a:r>
                    </a:p>
                    <a:p>
                      <a:r>
                        <a:rPr sz="1400"/>
                        <a:t>• Code quality score (SonarQube)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20-25 points</a:t>
                      </a:r>
                    </a:p>
                    <a:p>
                      <a:r>
                        <a:rPr sz="1400"/>
                        <a:t>• &lt; 24 hours</a:t>
                      </a:r>
                    </a:p>
                    <a:p>
                      <a:r>
                        <a:rPr sz="1400"/>
                        <a:t>• A rating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/>
                        <a:t>QA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Test cases automated per sprint</a:t>
                      </a:r>
                    </a:p>
                    <a:p>
                      <a:r>
                        <a:rPr sz="1400"/>
                        <a:t>• Defect detection rate</a:t>
                      </a:r>
                    </a:p>
                    <a:p>
                      <a:r>
                        <a:rPr sz="1400"/>
                        <a:t>• Test execution time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15-20 cases</a:t>
                      </a:r>
                    </a:p>
                    <a:p>
                      <a:r>
                        <a:rPr sz="1400"/>
                        <a:t>• ≥ 85%</a:t>
                      </a:r>
                    </a:p>
                    <a:p>
                      <a:r>
                        <a:rPr sz="1400"/>
                        <a:t>• 30% reduction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/>
                        <a:t>DevOps Engineer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Pipeline reliability (%)</a:t>
                      </a:r>
                    </a:p>
                    <a:p>
                      <a:r>
                        <a:rPr sz="1400"/>
                        <a:t>• Infrastructure as Code coverage</a:t>
                      </a:r>
                    </a:p>
                    <a:p>
                      <a:r>
                        <a:rPr sz="1400"/>
                        <a:t>• Deployment automation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≥ 98%</a:t>
                      </a:r>
                    </a:p>
                    <a:p>
                      <a:r>
                        <a:rPr sz="1400"/>
                        <a:t>• ≥ 80%</a:t>
                      </a:r>
                    </a:p>
                    <a:p>
                      <a:r>
                        <a:rPr sz="1400"/>
                        <a:t>• ≥ 90%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/>
                        <a:t>Tech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Team velocity improvement</a:t>
                      </a:r>
                    </a:p>
                    <a:p>
                      <a:r>
                        <a:rPr sz="1400"/>
                        <a:t>• Technical debt reduction</a:t>
                      </a:r>
                    </a:p>
                    <a:p>
                      <a:r>
                        <a:rPr sz="1400"/>
                        <a:t>• Knowledge sharing sessions 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15% increase</a:t>
                      </a:r>
                    </a:p>
                    <a:p>
                      <a:r>
                        <a:rPr sz="1400"/>
                        <a:t>• 20% reduction</a:t>
                      </a:r>
                    </a:p>
                    <a:p>
                      <a:r>
                        <a:rPr sz="1400"/>
                        <a:t>• 2 per month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400"/>
                        <a:t>Product Owner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Feature adoption rate</a:t>
                      </a:r>
                    </a:p>
                    <a:p>
                      <a:r>
                        <a:rPr sz="1400"/>
                        <a:t>• Sprint goal achievement</a:t>
                      </a:r>
                    </a:p>
                    <a:p>
                      <a:r>
                        <a:rPr sz="1400"/>
                        <a:t>• Stakeholder satisfaction score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• ≥ 60%</a:t>
                      </a:r>
                    </a:p>
                    <a:p>
                      <a:r>
                        <a:rPr sz="1400"/>
                        <a:t>• ≥ 90%</a:t>
                      </a:r>
                    </a:p>
                    <a:p>
                      <a:r>
                        <a:rPr sz="1400"/>
                        <a:t>• ≥ 8/10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Ensuring Alignment: The Vertical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Ask These Questions: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Bottom-Up (Individual → Company):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'If I achieve my KPIs, does it help my team achieve theirs?'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'If our team achieves our KPIs, does it help the department?'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'Does the department's success support company objectives?'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Top-Down (Company → Individual):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'How does company strategy translate to department goals?'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'What must my team do to support department objectives?'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'What should each individual contribute?'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If the answer to any question is unclear, revisit the cascade!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Cascading Mistakes to Avoid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Cascading too many objectives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Team overwhelmed, diluted focus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Limit to 3-5 objectives per level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Lost in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Individual KPIs don't support team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Verify alignment at each level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One-way communication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Lack of buy-in, unrealistic targets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Collaborate with team on objectives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Conflicting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Competing priorities, confusion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Review for contradictions before finalizing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No visibility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Team doesn't see the big picture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Share company and department objectives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Set and forget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Objectives become irrelevant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Review and adjust quarterly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Tracking and Monitoring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Best Practices: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Establish measurement cadence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Daily: Operational metrics (uptime, incidents)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Weekly: Team performance (velocity, completed stories)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Monthly: Strategic metrics (customer satisfaction, retention)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Use dashboards and visualization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Make KPIs visible to the team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Use tools like Jira, Grafana, Tableau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Regular review meetings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Weekly team syncs, Monthly business reviews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Take action on insights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KPIs should drive decisions, not just report status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→ If trending wrong direction, investigate and adjust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Regular Reviews and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Quarterly Review Process: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1. Review actual performance vs. targets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What went well? What didn't?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2. Identify obstacles and enablers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What helped or hindered progress?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3. Celebrate achievements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Recognize team and individual wins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4. Adjust objectives and KPIs if needed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Business context changes - objectives should too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But don't change too frequently (stability matters)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5. Plan for next quarter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Set new targets, identify needed support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Communicating Objectives and KPIs to 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Effective Communication Strategies: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Explain the 'Why'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Connect objectives to company strategy and purpose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Be Transparent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Share both successes and challenges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Encourage Questions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Create safe space for clarification and feedback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Make it Visual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Use dashboards, charts, and progress indicators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Regular Updates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Don't wait for formal reviews - communicate continuously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Two-Way Dialogue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• Listen to team input on feasibility and approach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🎯 Day 2 Exercise: Cascade Your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Activity (60 minutes):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Part 1: Create Team KPIs (20 min)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Take one of your function objectives from Day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Define 3-5 KPIs that measure progress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Specify targets and measurement frequency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Part 2: Cascade to Individual (25 min)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Select 2 team members (or use fictional examples)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Define individual objectives that support team objective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Create 3-4 individual KPIs for each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Part 3: Alignment Check (15 min)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Verify individual KPIs → Team KPIs → Function Objective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Share with a peer for feedback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Complete Example: E-Commerce Platform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Objective/KPI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Company Objective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Increase annual revenue by 30% through improved digital experience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CEO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Engineering Dept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Improve platform performance: Page load time &lt; 2 sec, 99.95%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VP Engineering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Platform Team Objective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Optimize checkout process to reduce cart abandonment by 25% by Q3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Engineering Manager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Team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Cart abandonment rate &lt; 15%</a:t>
                      </a:r>
                    </a:p>
                    <a:p>
                      <a:r>
                        <a:rPr sz="1400"/>
                        <a:t>• Checkout completion time &lt; 45 sec</a:t>
                      </a:r>
                    </a:p>
                    <a:p>
                      <a:r>
                        <a:rPr sz="1400"/>
                        <a:t>• Payment success rate &gt; 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Platform Team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Individual (Frontend Dev)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Implement one-click checkout for returning users by July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Sarah Chen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Individual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• Feature completion: 100% by July 31</a:t>
                      </a:r>
                    </a:p>
                    <a:p>
                      <a:r>
                        <a:rPr sz="1400"/>
                        <a:t>• Page load time: &lt; 1.5 sec</a:t>
                      </a:r>
                    </a:p>
                    <a:p>
                      <a:r>
                        <a:rPr sz="1400"/>
                        <a:t>• Zero critical bugs in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Sarah Chen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Tools and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Recommended Tools for KPI Tracking: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Project Management: Jira, Azure DevOps, Monday.com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Dashboards: Grafana, Tableau, Power BI, Klipfolio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OKR Software: Weekdone, Perdoo, Gtmhub, WorkBoard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Custom: Google Sheets, Excel with regular updates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Templates to Use: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Objective Setting Template (SMART format)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KPI Definition Sheet (metric, formula, target, frequency)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Cascading Matrix (showing alignment across levels)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Progress Tracker (weekly/monthly updates)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Review Meeting Agenda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Template: SMART Objective Definition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5314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Your Response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Specific: What exactly will you achieve?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Measurable: How will you measure success?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Achievable: Why is this realistic?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CE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Relevant: How does this align with broader goals?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/>
                        <a:t>Time-bound: What is the deadline/timeline?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CE6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/>
                        <a:t>Complete SMART Objective: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Template: KPI Definition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KPI Name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Clear, descriptive name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Related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Which objective does this measure?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Formula/Calculation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How is it calculated?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Where does the data come from?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Target Value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What is the goal?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Threshold (Acceptable)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What is the minimum acceptable?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Measurement Frequency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Daily / Weekly / Monthly / Quarterly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Who is responsible for tracking?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Last Updated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Date of last review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Your Action Plan: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Week 1-2: Foundation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Review organizational strategy and departmental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Finalize your function's 3-5 SMART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Get approval from your manager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Week 3-4: KPIs and Cascading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Define 3-5 KPIs for each function objective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Set up tracking mechanisms and dashboards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Begin cascading: Meet 1-on-1 with each team member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Co-create individual objectives and KPIs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Ongoing: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Track KPIs at defined frequency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Hold regular review meetings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☐ Adjust as needed based on business changes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Critical Success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To succeed with objectives and KPIs: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1. Leadership Commitment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Visible support from senior management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2. Clear Communication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Everyone understands the 'why' and 'how'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3. Data Availability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Can actually measure what you define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4. Regular Reviews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Make it part of your rhythm, not a one-time event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5. Flexibility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Adjust when context changes, but maintain stability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6. Recognition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• Celebrate achievements and progress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Workshop 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Day 1 - SMART Objectives: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Objectives define what you want to achieve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SMART framework ensures clarity and effectiveness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Good objectives align with organizational strategy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Day 2 - KPIs &amp; Cascading: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KPIs are quantifiable measures of objective achievement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Different types of KPIs serve different purposes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Cascading creates alignment from company to individual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✓ Regular tracking and review drives continuous improvement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Remember: This is a journey, not a destination!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Start small, learn, and iterate.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Thank you for your participation!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Recommended Reading: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'Measure What Matters' by John Doerr (OKRs)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'The Balanced Scorecard' by Kaplan &amp; Norton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'High Output Management' by Andy Grove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Online Resources: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Google's Guide to OKRs: rework.withgoogle.com/guides/set-goals-with-okrs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KPI Library: kpilibrary.com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Atlassian Goal Setting Guide: atlassian.com/team-playbook/plays/goals-signals-measures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Tools: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Free templates available on Google Sheets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Explore OKR software trials (Weekdone, Perdoo)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Dashboard tools: Grafana (open source)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Stay Connected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Keep practicing and don't hesitate to reach out for support!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